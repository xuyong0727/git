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256" r:id="rId3"/>
    <p:sldId id="258" r:id="rId5"/>
    <p:sldId id="257" r:id="rId6"/>
  </p:sldIdLst>
  <p:sldSz cx="12192000" cy="6858000"/>
  <p:notesSz cx="7103745" cy="10234295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5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联系 2"/>
          <p:cNvSpPr/>
          <p:nvPr/>
        </p:nvSpPr>
        <p:spPr>
          <a:xfrm>
            <a:off x="375920" y="562610"/>
            <a:ext cx="864235" cy="764540"/>
          </a:xfrm>
          <a:prstGeom prst="flowChartConnector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/>
              <a:t>开始</a:t>
            </a:r>
            <a:endParaRPr lang="zh-CN" altLang="en-US" sz="1400"/>
          </a:p>
        </p:txBody>
      </p:sp>
      <p:cxnSp>
        <p:nvCxnSpPr>
          <p:cNvPr id="6" name="直接箭头连接符 5"/>
          <p:cNvCxnSpPr>
            <a:stCxn id="3" idx="4"/>
            <a:endCxn id="4" idx="0"/>
          </p:cNvCxnSpPr>
          <p:nvPr/>
        </p:nvCxnSpPr>
        <p:spPr>
          <a:xfrm>
            <a:off x="808355" y="1327150"/>
            <a:ext cx="12065" cy="6927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3268345" y="2480310"/>
            <a:ext cx="36068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流程图: 可选过程 8"/>
          <p:cNvSpPr/>
          <p:nvPr/>
        </p:nvSpPr>
        <p:spPr>
          <a:xfrm>
            <a:off x="2080260" y="1942465"/>
            <a:ext cx="1179195" cy="9188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ym typeface="+mn-ea"/>
              </a:rPr>
              <a:t>1</a:t>
            </a:r>
            <a:r>
              <a:rPr lang="zh-CN" altLang="en-US" sz="1000">
                <a:sym typeface="+mn-ea"/>
              </a:rPr>
              <a:t>、接收到</a:t>
            </a:r>
            <a:endParaRPr lang="zh-CN" altLang="en-US" sz="1000"/>
          </a:p>
          <a:p>
            <a:pPr algn="ctr"/>
            <a:r>
              <a:rPr lang="zh-CN" altLang="en-US" sz="1000">
                <a:sym typeface="+mn-ea"/>
              </a:rPr>
              <a:t>扫码枪条码</a:t>
            </a:r>
            <a:endParaRPr lang="zh-CN" altLang="en-US" sz="1000"/>
          </a:p>
        </p:txBody>
      </p:sp>
      <p:sp>
        <p:nvSpPr>
          <p:cNvPr id="10" name="流程图: 可选过程 9"/>
          <p:cNvSpPr/>
          <p:nvPr/>
        </p:nvSpPr>
        <p:spPr>
          <a:xfrm>
            <a:off x="3643630" y="1942465"/>
            <a:ext cx="1278255" cy="9188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ym typeface="+mn-ea"/>
              </a:rPr>
              <a:t>2</a:t>
            </a:r>
            <a:r>
              <a:rPr lang="zh-CN" altLang="en-US" sz="1000">
                <a:sym typeface="+mn-ea"/>
              </a:rPr>
              <a:t>、读</a:t>
            </a:r>
            <a:r>
              <a:rPr lang="en-US" altLang="zh-CN" sz="1000">
                <a:sym typeface="+mn-ea"/>
              </a:rPr>
              <a:t>PLC </a:t>
            </a:r>
            <a:r>
              <a:rPr lang="zh-CN" altLang="en-US" sz="1000">
                <a:sym typeface="+mn-ea"/>
              </a:rPr>
              <a:t>地址</a:t>
            </a:r>
            <a:r>
              <a:rPr lang="en-US" altLang="zh-CN" sz="1000">
                <a:sym typeface="+mn-ea"/>
              </a:rPr>
              <a:t>1</a:t>
            </a:r>
            <a:r>
              <a:rPr lang="zh-CN" altLang="en-US" sz="1000">
                <a:sym typeface="+mn-ea"/>
              </a:rPr>
              <a:t>获得该条码对应的穴号、及对应</a:t>
            </a:r>
            <a:r>
              <a:rPr lang="en-US" altLang="zh-CN" sz="1000">
                <a:sym typeface="+mn-ea"/>
              </a:rPr>
              <a:t>CCD</a:t>
            </a:r>
            <a:r>
              <a:rPr lang="zh-CN" altLang="en-US" sz="1000">
                <a:sym typeface="+mn-ea"/>
              </a:rPr>
              <a:t>状态</a:t>
            </a:r>
            <a:endParaRPr lang="zh-CN" altLang="en-US" sz="1000">
              <a:sym typeface="+mn-ea"/>
            </a:endParaRPr>
          </a:p>
        </p:txBody>
      </p:sp>
      <p:sp>
        <p:nvSpPr>
          <p:cNvPr id="15" name="流程图: 可选过程 14"/>
          <p:cNvSpPr/>
          <p:nvPr/>
        </p:nvSpPr>
        <p:spPr>
          <a:xfrm>
            <a:off x="2308225" y="262890"/>
            <a:ext cx="2664460" cy="657225"/>
          </a:xfrm>
          <a:prstGeom prst="flowChartAlternateProcess">
            <a:avLst/>
          </a:prstGeom>
          <a:ln w="28575" cap="flat" cmpd="sng">
            <a:solidFill>
              <a:schemeClr val="accent1">
                <a:shade val="50000"/>
              </a:schemeClr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400">
                <a:sym typeface="+mn-ea"/>
              </a:rPr>
              <a:t>设定</a:t>
            </a:r>
            <a:endParaRPr lang="zh-CN" altLang="en-US" sz="1400">
              <a:sym typeface="+mn-ea"/>
            </a:endParaRPr>
          </a:p>
          <a:p>
            <a:pPr algn="l"/>
            <a:r>
              <a:rPr lang="zh-CN" altLang="en-US" sz="1400">
                <a:sym typeface="+mn-ea"/>
              </a:rPr>
              <a:t>载具穴数</a:t>
            </a:r>
            <a:r>
              <a:rPr lang="en-US" altLang="zh-CN" sz="1400">
                <a:sym typeface="+mn-ea"/>
              </a:rPr>
              <a:t> </a:t>
            </a:r>
            <a:r>
              <a:rPr lang="zh-CN" altLang="en-US" sz="1400">
                <a:sym typeface="+mn-ea"/>
              </a:rPr>
              <a:t>如：</a:t>
            </a:r>
            <a:r>
              <a:rPr lang="en-US" altLang="zh-CN" sz="1400">
                <a:sym typeface="+mn-ea"/>
              </a:rPr>
              <a:t>8</a:t>
            </a:r>
            <a:r>
              <a:rPr lang="zh-CN" altLang="en-US" sz="1400">
                <a:sym typeface="+mn-ea"/>
              </a:rPr>
              <a:t>（穴）</a:t>
            </a:r>
            <a:endParaRPr lang="zh-CN" altLang="en-US" sz="1400">
              <a:sym typeface="+mn-ea"/>
            </a:endParaRPr>
          </a:p>
        </p:txBody>
      </p:sp>
      <p:sp>
        <p:nvSpPr>
          <p:cNvPr id="19" name="流程图: 可选过程 18"/>
          <p:cNvSpPr/>
          <p:nvPr/>
        </p:nvSpPr>
        <p:spPr>
          <a:xfrm>
            <a:off x="5393055" y="1942465"/>
            <a:ext cx="1403985" cy="9188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ym typeface="+mn-ea"/>
              </a:rPr>
              <a:t>3</a:t>
            </a:r>
            <a:r>
              <a:rPr lang="zh-CN" altLang="en-US" sz="1000">
                <a:sym typeface="+mn-ea"/>
              </a:rPr>
              <a:t>、回写</a:t>
            </a:r>
            <a:r>
              <a:rPr lang="en-US" altLang="zh-CN" sz="1000">
                <a:sym typeface="+mn-ea"/>
              </a:rPr>
              <a:t>PLC </a:t>
            </a:r>
            <a:r>
              <a:rPr lang="zh-CN" altLang="en-US" sz="1000">
                <a:sym typeface="+mn-ea"/>
              </a:rPr>
              <a:t>地址</a:t>
            </a:r>
            <a:r>
              <a:rPr lang="en-US" altLang="zh-CN" sz="1000">
                <a:sym typeface="+mn-ea"/>
              </a:rPr>
              <a:t>2</a:t>
            </a:r>
            <a:r>
              <a:rPr lang="zh-CN" altLang="en-US" sz="1000">
                <a:sym typeface="+mn-ea"/>
              </a:rPr>
              <a:t>：</a:t>
            </a:r>
            <a:endParaRPr lang="en-US" altLang="zh-CN" sz="1000">
              <a:sym typeface="+mn-ea"/>
            </a:endParaRPr>
          </a:p>
          <a:p>
            <a:pPr algn="ctr"/>
            <a:r>
              <a:rPr lang="zh-CN" altLang="en-US" sz="1000">
                <a:sym typeface="+mn-ea"/>
              </a:rPr>
              <a:t>反馈地址</a:t>
            </a:r>
            <a:r>
              <a:rPr lang="en-US" altLang="zh-CN" sz="1000">
                <a:sym typeface="+mn-ea"/>
              </a:rPr>
              <a:t>1</a:t>
            </a:r>
            <a:r>
              <a:rPr lang="zh-CN" altLang="en-US" sz="1000">
                <a:sym typeface="+mn-ea"/>
              </a:rPr>
              <a:t>（加</a:t>
            </a:r>
            <a:r>
              <a:rPr lang="en-US" altLang="zh-CN" sz="1000">
                <a:sym typeface="+mn-ea"/>
              </a:rPr>
              <a:t>0.1s</a:t>
            </a:r>
            <a:r>
              <a:rPr lang="zh-CN" altLang="en-US" sz="1000">
                <a:sym typeface="+mn-ea"/>
              </a:rPr>
              <a:t>延迟）</a:t>
            </a:r>
            <a:endParaRPr lang="zh-CN" altLang="en-US" sz="1000">
              <a:sym typeface="+mn-ea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4954905" y="2433955"/>
            <a:ext cx="40513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流程图: 决策 23"/>
          <p:cNvSpPr/>
          <p:nvPr/>
        </p:nvSpPr>
        <p:spPr>
          <a:xfrm>
            <a:off x="7118985" y="1942465"/>
            <a:ext cx="1710055" cy="919480"/>
          </a:xfrm>
          <a:prstGeom prst="flowChartDecisi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是否等于穴数</a:t>
            </a:r>
            <a:endParaRPr lang="zh-CN" altLang="en-US" sz="1000"/>
          </a:p>
        </p:txBody>
      </p:sp>
      <p:cxnSp>
        <p:nvCxnSpPr>
          <p:cNvPr id="25" name="直接箭头连接符 24"/>
          <p:cNvCxnSpPr/>
          <p:nvPr/>
        </p:nvCxnSpPr>
        <p:spPr>
          <a:xfrm>
            <a:off x="6754495" y="2402205"/>
            <a:ext cx="3663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肘形连接符 25"/>
          <p:cNvCxnSpPr>
            <a:stCxn id="24" idx="2"/>
            <a:endCxn id="9" idx="2"/>
          </p:cNvCxnSpPr>
          <p:nvPr/>
        </p:nvCxnSpPr>
        <p:spPr>
          <a:xfrm rot="5400000" flipH="1">
            <a:off x="5321935" y="208915"/>
            <a:ext cx="3175" cy="5304155"/>
          </a:xfrm>
          <a:prstGeom prst="bentConnector3">
            <a:avLst>
              <a:gd name="adj1" fmla="val -2152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 flipH="1">
            <a:off x="7538720" y="2988310"/>
            <a:ext cx="308610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N</a:t>
            </a:r>
            <a:endParaRPr lang="en-US" altLang="zh-CN" sz="1000"/>
          </a:p>
        </p:txBody>
      </p:sp>
      <p:sp>
        <p:nvSpPr>
          <p:cNvPr id="28" name="流程图: 可选过程 27"/>
          <p:cNvSpPr/>
          <p:nvPr/>
        </p:nvSpPr>
        <p:spPr>
          <a:xfrm>
            <a:off x="9347200" y="1943735"/>
            <a:ext cx="1463675" cy="9188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ym typeface="+mn-ea"/>
              </a:rPr>
              <a:t>4</a:t>
            </a:r>
            <a:r>
              <a:rPr lang="zh-CN" altLang="en-US" sz="1000">
                <a:sym typeface="+mn-ea"/>
              </a:rPr>
              <a:t>、读取</a:t>
            </a:r>
            <a:r>
              <a:rPr lang="en-US" altLang="zh-CN" sz="1000">
                <a:sym typeface="+mn-ea"/>
              </a:rPr>
              <a:t>PLC</a:t>
            </a:r>
            <a:r>
              <a:rPr lang="zh-CN" altLang="en-US" sz="1000">
                <a:sym typeface="+mn-ea"/>
              </a:rPr>
              <a:t>地址</a:t>
            </a:r>
            <a:r>
              <a:rPr lang="en-US" altLang="zh-CN" sz="1000">
                <a:sym typeface="+mn-ea"/>
              </a:rPr>
              <a:t>1</a:t>
            </a:r>
            <a:r>
              <a:rPr lang="zh-CN" altLang="en-US" sz="1000">
                <a:sym typeface="+mn-ea"/>
              </a:rPr>
              <a:t>获得换盘信号（轮循）</a:t>
            </a:r>
            <a:endParaRPr lang="zh-CN" altLang="en-US" sz="1000">
              <a:sym typeface="+mn-ea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8829040" y="2402205"/>
            <a:ext cx="4832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 flipH="1">
            <a:off x="8829040" y="2019935"/>
            <a:ext cx="473075" cy="274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Y</a:t>
            </a:r>
            <a:endParaRPr lang="en-US" altLang="zh-CN" sz="1000"/>
          </a:p>
        </p:txBody>
      </p:sp>
      <p:sp>
        <p:nvSpPr>
          <p:cNvPr id="31" name="流程图: 可选过程 30"/>
          <p:cNvSpPr/>
          <p:nvPr/>
        </p:nvSpPr>
        <p:spPr>
          <a:xfrm>
            <a:off x="7365365" y="4980940"/>
            <a:ext cx="1463675" cy="9188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ym typeface="+mn-ea"/>
              </a:rPr>
              <a:t>5</a:t>
            </a:r>
            <a:r>
              <a:rPr lang="zh-CN" altLang="en-US" sz="1000">
                <a:sym typeface="+mn-ea"/>
              </a:rPr>
              <a:t>、提交后台批量进行服务器条码</a:t>
            </a:r>
            <a:r>
              <a:rPr lang="zh-CN" altLang="en-US" sz="1000">
                <a:sym typeface="+mn-ea"/>
              </a:rPr>
              <a:t>校验</a:t>
            </a:r>
            <a:endParaRPr lang="zh-CN" altLang="en-US" sz="1000">
              <a:sym typeface="+mn-ea"/>
            </a:endParaRPr>
          </a:p>
        </p:txBody>
      </p:sp>
      <p:cxnSp>
        <p:nvCxnSpPr>
          <p:cNvPr id="32" name="直接箭头连接符 31"/>
          <p:cNvCxnSpPr>
            <a:stCxn id="28" idx="2"/>
            <a:endCxn id="31" idx="0"/>
          </p:cNvCxnSpPr>
          <p:nvPr/>
        </p:nvCxnSpPr>
        <p:spPr>
          <a:xfrm flipH="1">
            <a:off x="8097520" y="2862580"/>
            <a:ext cx="1981835" cy="21183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流程图: 可选过程 32"/>
          <p:cNvSpPr/>
          <p:nvPr/>
        </p:nvSpPr>
        <p:spPr>
          <a:xfrm>
            <a:off x="4970780" y="4980940"/>
            <a:ext cx="1463675" cy="9188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ym typeface="+mn-ea"/>
              </a:rPr>
              <a:t>6</a:t>
            </a:r>
            <a:r>
              <a:rPr lang="zh-CN" altLang="en-US" sz="1000">
                <a:sym typeface="+mn-ea"/>
              </a:rPr>
              <a:t>、校验结果写入</a:t>
            </a:r>
            <a:r>
              <a:rPr lang="en-US" altLang="zh-CN" sz="1000">
                <a:sym typeface="+mn-ea"/>
              </a:rPr>
              <a:t>PLC</a:t>
            </a:r>
            <a:r>
              <a:rPr lang="zh-CN" altLang="en-US" sz="1000">
                <a:sym typeface="+mn-ea"/>
              </a:rPr>
              <a:t>地址</a:t>
            </a:r>
            <a:r>
              <a:rPr lang="en-US" altLang="zh-CN" sz="1000">
                <a:sym typeface="+mn-ea"/>
              </a:rPr>
              <a:t>2</a:t>
            </a:r>
            <a:r>
              <a:rPr lang="zh-CN" altLang="en-US" sz="1000">
                <a:sym typeface="+mn-ea"/>
              </a:rPr>
              <a:t>：</a:t>
            </a:r>
            <a:r>
              <a:rPr lang="en-US" altLang="zh-CN" sz="1000">
                <a:sym typeface="+mn-ea"/>
              </a:rPr>
              <a:t>14</a:t>
            </a:r>
            <a:r>
              <a:rPr lang="zh-CN" altLang="en-US" sz="1000">
                <a:sym typeface="+mn-ea"/>
              </a:rPr>
              <a:t>位</a:t>
            </a:r>
            <a:r>
              <a:rPr lang="zh-CN" altLang="en-US" sz="1000">
                <a:sym typeface="+mn-ea"/>
              </a:rPr>
              <a:t>长度</a:t>
            </a:r>
            <a:endParaRPr lang="zh-CN" altLang="en-US" sz="1000">
              <a:sym typeface="+mn-ea"/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 flipH="1">
            <a:off x="6548120" y="5440680"/>
            <a:ext cx="736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流程图: 可选过程 34"/>
          <p:cNvSpPr/>
          <p:nvPr/>
        </p:nvSpPr>
        <p:spPr>
          <a:xfrm>
            <a:off x="2329180" y="4980940"/>
            <a:ext cx="1710690" cy="9188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ym typeface="+mn-ea"/>
              </a:rPr>
              <a:t>7</a:t>
            </a:r>
            <a:r>
              <a:rPr lang="zh-CN" altLang="en-US" sz="1000">
                <a:sym typeface="+mn-ea"/>
              </a:rPr>
              <a:t>、完成写入后再写入</a:t>
            </a:r>
            <a:r>
              <a:rPr lang="en-US" altLang="zh-CN" sz="1000">
                <a:sym typeface="+mn-ea"/>
              </a:rPr>
              <a:t>PLC</a:t>
            </a:r>
            <a:r>
              <a:rPr lang="zh-CN" altLang="en-US" sz="1000">
                <a:sym typeface="+mn-ea"/>
              </a:rPr>
              <a:t>地址</a:t>
            </a:r>
            <a:r>
              <a:rPr lang="en-US" altLang="zh-CN" sz="1000">
                <a:sym typeface="+mn-ea"/>
              </a:rPr>
              <a:t>2</a:t>
            </a:r>
            <a:r>
              <a:rPr lang="zh-CN" altLang="en-US" sz="1000">
                <a:sym typeface="+mn-ea"/>
              </a:rPr>
              <a:t>：最高</a:t>
            </a:r>
            <a:r>
              <a:rPr lang="zh-CN" altLang="en-US" sz="1000">
                <a:sym typeface="+mn-ea"/>
              </a:rPr>
              <a:t>位</a:t>
            </a:r>
            <a:endParaRPr lang="zh-CN" altLang="en-US" sz="1000">
              <a:sym typeface="+mn-ea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 flipH="1">
            <a:off x="4152900" y="5440680"/>
            <a:ext cx="71882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流程图: 可选过程 37"/>
          <p:cNvSpPr/>
          <p:nvPr/>
        </p:nvSpPr>
        <p:spPr>
          <a:xfrm>
            <a:off x="5466080" y="262890"/>
            <a:ext cx="2755265" cy="657860"/>
          </a:xfrm>
          <a:prstGeom prst="flowChartAlternateProcess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400">
                <a:sym typeface="+mn-ea"/>
              </a:rPr>
              <a:t>设置</a:t>
            </a:r>
            <a:endParaRPr lang="zh-CN" altLang="en-US" sz="1400">
              <a:sym typeface="+mn-ea"/>
            </a:endParaRPr>
          </a:p>
          <a:p>
            <a:pPr algn="l"/>
            <a:r>
              <a:rPr lang="en-US" altLang="zh-CN" sz="1400">
                <a:sym typeface="+mn-ea"/>
              </a:rPr>
              <a:t>1</a:t>
            </a:r>
            <a:r>
              <a:rPr lang="zh-CN" altLang="en-US" sz="1400">
                <a:sym typeface="+mn-ea"/>
              </a:rPr>
              <a:t>、</a:t>
            </a:r>
            <a:r>
              <a:rPr lang="en-US" altLang="zh-CN" sz="1400">
                <a:sym typeface="+mn-ea"/>
              </a:rPr>
              <a:t>PLC</a:t>
            </a:r>
            <a:r>
              <a:rPr lang="zh-CN" altLang="en-US" sz="1400">
                <a:sym typeface="+mn-ea"/>
              </a:rPr>
              <a:t>地址</a:t>
            </a:r>
            <a:r>
              <a:rPr lang="en-US" altLang="zh-CN" sz="1400">
                <a:sym typeface="+mn-ea"/>
              </a:rPr>
              <a:t>1&amp;</a:t>
            </a:r>
            <a:r>
              <a:rPr lang="zh-CN" altLang="en-US" sz="1400">
                <a:sym typeface="+mn-ea"/>
              </a:rPr>
              <a:t>地址</a:t>
            </a:r>
            <a:r>
              <a:rPr lang="en-US" altLang="zh-CN" sz="1400">
                <a:sym typeface="+mn-ea"/>
              </a:rPr>
              <a:t>2</a:t>
            </a:r>
            <a:endParaRPr lang="en-US" altLang="zh-CN" sz="1400">
              <a:sym typeface="+mn-ea"/>
            </a:endParaRPr>
          </a:p>
          <a:p>
            <a:pPr algn="l"/>
            <a:r>
              <a:rPr lang="en-US" altLang="zh-CN" sz="1400">
                <a:sym typeface="+mn-ea"/>
              </a:rPr>
              <a:t>2</a:t>
            </a:r>
            <a:r>
              <a:rPr lang="zh-CN" altLang="en-US" sz="1400">
                <a:sym typeface="+mn-ea"/>
              </a:rPr>
              <a:t>、账号（统一</a:t>
            </a:r>
            <a:r>
              <a:rPr lang="zh-CN" altLang="en-US" sz="1400">
                <a:sym typeface="+mn-ea"/>
              </a:rPr>
              <a:t>体系）</a:t>
            </a:r>
            <a:endParaRPr lang="zh-CN" altLang="en-US" sz="1400">
              <a:sym typeface="+mn-ea"/>
            </a:endParaRPr>
          </a:p>
        </p:txBody>
      </p:sp>
      <p:sp>
        <p:nvSpPr>
          <p:cNvPr id="39" name="流程图: 联系 38"/>
          <p:cNvSpPr/>
          <p:nvPr/>
        </p:nvSpPr>
        <p:spPr>
          <a:xfrm>
            <a:off x="525780" y="5044440"/>
            <a:ext cx="864235" cy="764540"/>
          </a:xfrm>
          <a:prstGeom prst="flowChartConnector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结束</a:t>
            </a:r>
            <a:endParaRPr lang="zh-CN" altLang="en-US" sz="1000"/>
          </a:p>
        </p:txBody>
      </p:sp>
      <p:cxnSp>
        <p:nvCxnSpPr>
          <p:cNvPr id="40" name="直接箭头连接符 39"/>
          <p:cNvCxnSpPr/>
          <p:nvPr/>
        </p:nvCxnSpPr>
        <p:spPr>
          <a:xfrm flipH="1">
            <a:off x="1503045" y="5440680"/>
            <a:ext cx="71310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3629025" y="2955290"/>
            <a:ext cx="15849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rgbClr val="FF0000"/>
                </a:solidFill>
              </a:rPr>
              <a:t>1</a:t>
            </a:r>
            <a:r>
              <a:rPr lang="zh-CN" altLang="en-US" sz="1000">
                <a:solidFill>
                  <a:srgbClr val="FF0000"/>
                </a:solidFill>
              </a:rPr>
              <a:t>、低</a:t>
            </a:r>
            <a:r>
              <a:rPr lang="en-US" altLang="zh-CN" sz="1000">
                <a:solidFill>
                  <a:srgbClr val="FF0000"/>
                </a:solidFill>
              </a:rPr>
              <a:t>8</a:t>
            </a:r>
            <a:r>
              <a:rPr lang="zh-CN" altLang="en-US" sz="1000">
                <a:solidFill>
                  <a:srgbClr val="FF0000"/>
                </a:solidFill>
              </a:rPr>
              <a:t>位代表穴号；</a:t>
            </a:r>
            <a:endParaRPr lang="zh-CN" altLang="en-US" sz="1000">
              <a:solidFill>
                <a:srgbClr val="FF0000"/>
              </a:solidFill>
            </a:endParaRPr>
          </a:p>
          <a:p>
            <a:r>
              <a:rPr lang="en-US" altLang="zh-CN" sz="1000">
                <a:solidFill>
                  <a:srgbClr val="FF0000"/>
                </a:solidFill>
              </a:rPr>
              <a:t>2</a:t>
            </a:r>
            <a:r>
              <a:rPr lang="zh-CN" altLang="en-US" sz="1000">
                <a:solidFill>
                  <a:srgbClr val="FF0000"/>
                </a:solidFill>
              </a:rPr>
              <a:t>、中</a:t>
            </a:r>
            <a:r>
              <a:rPr lang="en-US" altLang="zh-CN" sz="1000">
                <a:solidFill>
                  <a:srgbClr val="FF0000"/>
                </a:solidFill>
              </a:rPr>
              <a:t>4</a:t>
            </a:r>
            <a:r>
              <a:rPr lang="zh-CN" altLang="en-US" sz="1000">
                <a:solidFill>
                  <a:srgbClr val="FF0000"/>
                </a:solidFill>
              </a:rPr>
              <a:t>位代表</a:t>
            </a:r>
            <a:r>
              <a:rPr lang="en-US" altLang="zh-CN" sz="1000">
                <a:solidFill>
                  <a:srgbClr val="FF0000"/>
                </a:solidFill>
              </a:rPr>
              <a:t>CCD</a:t>
            </a:r>
            <a:r>
              <a:rPr lang="zh-CN" altLang="en-US" sz="1000">
                <a:solidFill>
                  <a:srgbClr val="FF0000"/>
                </a:solidFill>
              </a:rPr>
              <a:t>状态；</a:t>
            </a:r>
            <a:endParaRPr lang="zh-CN" altLang="en-US" sz="1000">
              <a:solidFill>
                <a:srgbClr val="FF0000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358130" y="2965450"/>
            <a:ext cx="15849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</a:rPr>
              <a:t>次高位（第</a:t>
            </a:r>
            <a:r>
              <a:rPr lang="en-US" altLang="zh-CN" sz="1000">
                <a:solidFill>
                  <a:srgbClr val="FF0000"/>
                </a:solidFill>
              </a:rPr>
              <a:t>15</a:t>
            </a:r>
            <a:r>
              <a:rPr lang="zh-CN" altLang="en-US" sz="1000">
                <a:solidFill>
                  <a:srgbClr val="FF0000"/>
                </a:solidFill>
              </a:rPr>
              <a:t>位）写入</a:t>
            </a:r>
            <a:r>
              <a:rPr lang="en-US" altLang="zh-CN" sz="1000">
                <a:solidFill>
                  <a:srgbClr val="FF0000"/>
                </a:solidFill>
              </a:rPr>
              <a:t>1</a:t>
            </a:r>
            <a:r>
              <a:rPr lang="zh-CN" altLang="en-US" sz="1000">
                <a:solidFill>
                  <a:srgbClr val="FF0000"/>
                </a:solidFill>
              </a:rPr>
              <a:t>；</a:t>
            </a:r>
            <a:endParaRPr lang="zh-CN" altLang="en-US" sz="1000">
              <a:solidFill>
                <a:srgbClr val="FF0000"/>
              </a:solidFill>
            </a:endParaRPr>
          </a:p>
          <a:p>
            <a:endParaRPr lang="zh-CN" altLang="en-US" sz="1000">
              <a:solidFill>
                <a:srgbClr val="FF0000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38530" y="1396365"/>
            <a:ext cx="1510665" cy="553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solidFill>
                  <a:srgbClr val="FF0000"/>
                </a:solidFill>
              </a:rPr>
              <a:t>高</a:t>
            </a:r>
            <a:r>
              <a:rPr lang="en-US" altLang="zh-CN" sz="1200">
                <a:solidFill>
                  <a:srgbClr val="FF0000"/>
                </a:solidFill>
              </a:rPr>
              <a:t>4</a:t>
            </a:r>
            <a:r>
              <a:rPr lang="zh-CN" altLang="en-US" sz="1200">
                <a:solidFill>
                  <a:srgbClr val="FF0000"/>
                </a:solidFill>
              </a:rPr>
              <a:t>位代表换盘信号：</a:t>
            </a:r>
            <a:r>
              <a:rPr lang="en-US" altLang="zh-CN" sz="1200">
                <a:solidFill>
                  <a:srgbClr val="FF0000"/>
                </a:solidFill>
              </a:rPr>
              <a:t>f</a:t>
            </a:r>
            <a:r>
              <a:rPr lang="zh-CN" altLang="en-US" sz="1200">
                <a:solidFill>
                  <a:srgbClr val="FF0000"/>
                </a:solidFill>
              </a:rPr>
              <a:t>（</a:t>
            </a:r>
            <a:r>
              <a:rPr lang="en-US" altLang="zh-CN" sz="1200">
                <a:solidFill>
                  <a:srgbClr val="FF0000"/>
                </a:solidFill>
              </a:rPr>
              <a:t>1111</a:t>
            </a:r>
            <a:r>
              <a:rPr lang="zh-CN" altLang="en-US" sz="1200">
                <a:solidFill>
                  <a:srgbClr val="FF0000"/>
                </a:solidFill>
              </a:rPr>
              <a:t>）代表换盘；</a:t>
            </a:r>
            <a:r>
              <a:rPr lang="en-US" altLang="zh-CN" sz="1200">
                <a:solidFill>
                  <a:srgbClr val="FF0000"/>
                </a:solidFill>
              </a:rPr>
              <a:t>0000</a:t>
            </a:r>
            <a:r>
              <a:rPr lang="zh-CN" altLang="en-US" sz="1200">
                <a:solidFill>
                  <a:srgbClr val="FF0000"/>
                </a:solidFill>
              </a:rPr>
              <a:t>代表不</a:t>
            </a:r>
            <a:r>
              <a:rPr lang="zh-CN" altLang="en-US" sz="1200">
                <a:solidFill>
                  <a:srgbClr val="FF0000"/>
                </a:solidFill>
              </a:rPr>
              <a:t>换盘</a:t>
            </a:r>
            <a:endParaRPr lang="zh-CN" altLang="en-US" sz="1200">
              <a:solidFill>
                <a:srgbClr val="FF0000"/>
              </a:solidFill>
            </a:endParaRPr>
          </a:p>
          <a:p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4411980" y="6088380"/>
            <a:ext cx="2822575" cy="600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000">
                <a:solidFill>
                  <a:srgbClr val="FF0000"/>
                </a:solidFill>
              </a:rPr>
              <a:t>低</a:t>
            </a:r>
            <a:r>
              <a:rPr lang="en-US" altLang="zh-CN" sz="1000">
                <a:solidFill>
                  <a:srgbClr val="FF0000"/>
                </a:solidFill>
              </a:rPr>
              <a:t>14</a:t>
            </a:r>
            <a:r>
              <a:rPr lang="zh-CN" altLang="en-US" sz="1000">
                <a:solidFill>
                  <a:srgbClr val="FF0000"/>
                </a:solidFill>
              </a:rPr>
              <a:t>位写入，</a:t>
            </a:r>
            <a:r>
              <a:rPr lang="en-US" altLang="zh-CN" sz="1000">
                <a:solidFill>
                  <a:srgbClr val="FF0000"/>
                </a:solidFill>
              </a:rPr>
              <a:t>0</a:t>
            </a:r>
            <a:r>
              <a:rPr lang="zh-CN" altLang="en-US" sz="1000">
                <a:solidFill>
                  <a:srgbClr val="FF0000"/>
                </a:solidFill>
              </a:rPr>
              <a:t>位代表</a:t>
            </a:r>
            <a:r>
              <a:rPr lang="en-US" altLang="zh-CN" sz="1000">
                <a:solidFill>
                  <a:srgbClr val="FF0000"/>
                </a:solidFill>
              </a:rPr>
              <a:t>1</a:t>
            </a:r>
            <a:r>
              <a:rPr lang="zh-CN" altLang="en-US" sz="1000">
                <a:solidFill>
                  <a:srgbClr val="FF0000"/>
                </a:solidFill>
              </a:rPr>
              <a:t>穴，</a:t>
            </a:r>
            <a:r>
              <a:rPr lang="en-US" altLang="zh-CN" sz="1000">
                <a:solidFill>
                  <a:srgbClr val="FF0000"/>
                </a:solidFill>
              </a:rPr>
              <a:t>1</a:t>
            </a:r>
            <a:r>
              <a:rPr lang="zh-CN" altLang="en-US" sz="1000">
                <a:solidFill>
                  <a:srgbClr val="FF0000"/>
                </a:solidFill>
              </a:rPr>
              <a:t>位代表</a:t>
            </a:r>
            <a:r>
              <a:rPr lang="en-US" altLang="zh-CN" sz="1000">
                <a:solidFill>
                  <a:srgbClr val="FF0000"/>
                </a:solidFill>
              </a:rPr>
              <a:t>2</a:t>
            </a:r>
            <a:r>
              <a:rPr lang="zh-CN" altLang="en-US" sz="1000">
                <a:solidFill>
                  <a:srgbClr val="FF0000"/>
                </a:solidFill>
              </a:rPr>
              <a:t>穴。。。</a:t>
            </a:r>
            <a:r>
              <a:rPr lang="en-US" altLang="zh-CN" sz="1000">
                <a:solidFill>
                  <a:srgbClr val="FF0000"/>
                </a:solidFill>
              </a:rPr>
              <a:t>7</a:t>
            </a:r>
            <a:r>
              <a:rPr lang="zh-CN" altLang="en-US" sz="1000">
                <a:solidFill>
                  <a:srgbClr val="FF0000"/>
                </a:solidFill>
              </a:rPr>
              <a:t>位代表</a:t>
            </a:r>
            <a:r>
              <a:rPr lang="en-US" altLang="zh-CN" sz="1000">
                <a:solidFill>
                  <a:srgbClr val="FF0000"/>
                </a:solidFill>
              </a:rPr>
              <a:t>8</a:t>
            </a:r>
            <a:r>
              <a:rPr lang="zh-CN" altLang="en-US" sz="1000">
                <a:solidFill>
                  <a:srgbClr val="FF0000"/>
                </a:solidFill>
              </a:rPr>
              <a:t>穴，对应的值写入</a:t>
            </a:r>
            <a:r>
              <a:rPr lang="en-US" altLang="zh-CN" sz="1000">
                <a:solidFill>
                  <a:srgbClr val="FF0000"/>
                </a:solidFill>
              </a:rPr>
              <a:t>1</a:t>
            </a:r>
            <a:r>
              <a:rPr lang="zh-CN" altLang="en-US" sz="1000">
                <a:solidFill>
                  <a:srgbClr val="FF0000"/>
                </a:solidFill>
              </a:rPr>
              <a:t>或</a:t>
            </a:r>
            <a:r>
              <a:rPr lang="en-US" altLang="zh-CN" sz="1000">
                <a:solidFill>
                  <a:srgbClr val="FF0000"/>
                </a:solidFill>
              </a:rPr>
              <a:t>0</a:t>
            </a:r>
            <a:r>
              <a:rPr lang="zh-CN" altLang="en-US" sz="1000">
                <a:solidFill>
                  <a:srgbClr val="FF0000"/>
                </a:solidFill>
              </a:rPr>
              <a:t>，</a:t>
            </a:r>
            <a:r>
              <a:rPr lang="en-US" altLang="zh-CN" sz="1000">
                <a:solidFill>
                  <a:srgbClr val="FF0000"/>
                </a:solidFill>
              </a:rPr>
              <a:t>1</a:t>
            </a:r>
            <a:r>
              <a:rPr lang="zh-CN" altLang="en-US" sz="1000">
                <a:solidFill>
                  <a:srgbClr val="FF0000"/>
                </a:solidFill>
              </a:rPr>
              <a:t>代表</a:t>
            </a:r>
            <a:r>
              <a:rPr lang="en-US" altLang="zh-CN" sz="1000">
                <a:solidFill>
                  <a:srgbClr val="FF0000"/>
                </a:solidFill>
              </a:rPr>
              <a:t>ok</a:t>
            </a:r>
            <a:r>
              <a:rPr lang="zh-CN" altLang="en-US" sz="1000">
                <a:solidFill>
                  <a:srgbClr val="FF0000"/>
                </a:solidFill>
              </a:rPr>
              <a:t>，</a:t>
            </a:r>
            <a:r>
              <a:rPr lang="en-US" altLang="zh-CN" sz="1000">
                <a:solidFill>
                  <a:srgbClr val="FF0000"/>
                </a:solidFill>
              </a:rPr>
              <a:t>0</a:t>
            </a:r>
            <a:r>
              <a:rPr lang="zh-CN" altLang="en-US" sz="1000">
                <a:solidFill>
                  <a:srgbClr val="FF0000"/>
                </a:solidFill>
              </a:rPr>
              <a:t>代表</a:t>
            </a:r>
            <a:r>
              <a:rPr lang="en-US" altLang="zh-CN" sz="1000">
                <a:solidFill>
                  <a:srgbClr val="FF0000"/>
                </a:solidFill>
              </a:rPr>
              <a:t>ng</a:t>
            </a:r>
            <a:endParaRPr lang="en-US" altLang="zh-CN" sz="1000">
              <a:solidFill>
                <a:srgbClr val="FF0000"/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2322830" y="6088380"/>
            <a:ext cx="193167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</a:rPr>
              <a:t>最高位（第</a:t>
            </a:r>
            <a:r>
              <a:rPr lang="en-US" altLang="zh-CN" sz="1000">
                <a:solidFill>
                  <a:srgbClr val="FF0000"/>
                </a:solidFill>
              </a:rPr>
              <a:t>16</a:t>
            </a:r>
            <a:r>
              <a:rPr lang="zh-CN" altLang="en-US" sz="1000">
                <a:solidFill>
                  <a:srgbClr val="FF0000"/>
                </a:solidFill>
              </a:rPr>
              <a:t>位）写入</a:t>
            </a:r>
            <a:r>
              <a:rPr lang="en-US" altLang="zh-CN" sz="1000">
                <a:solidFill>
                  <a:srgbClr val="FF0000"/>
                </a:solidFill>
              </a:rPr>
              <a:t>1</a:t>
            </a:r>
            <a:r>
              <a:rPr lang="zh-CN" altLang="en-US" sz="1000">
                <a:solidFill>
                  <a:srgbClr val="FF0000"/>
                </a:solidFill>
              </a:rPr>
              <a:t>表示全部写入</a:t>
            </a:r>
            <a:r>
              <a:rPr lang="zh-CN" altLang="en-US" sz="1000">
                <a:solidFill>
                  <a:srgbClr val="FF0000"/>
                </a:solidFill>
              </a:rPr>
              <a:t>完成；</a:t>
            </a:r>
            <a:endParaRPr lang="zh-CN" altLang="en-US" sz="1000">
              <a:solidFill>
                <a:srgbClr val="FF0000"/>
              </a:solidFill>
            </a:endParaRPr>
          </a:p>
          <a:p>
            <a:endParaRPr lang="zh-CN" altLang="en-US" sz="100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4940" y="149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集成流程：</a:t>
            </a:r>
            <a:endParaRPr lang="zh-CN" altLang="en-US" b="1"/>
          </a:p>
        </p:txBody>
      </p:sp>
      <p:sp>
        <p:nvSpPr>
          <p:cNvPr id="4" name="流程图: 决策 3"/>
          <p:cNvSpPr/>
          <p:nvPr>
            <p:custDataLst>
              <p:tags r:id="rId1"/>
            </p:custDataLst>
          </p:nvPr>
        </p:nvSpPr>
        <p:spPr>
          <a:xfrm>
            <a:off x="27940" y="2019935"/>
            <a:ext cx="1584960" cy="945515"/>
          </a:xfrm>
          <a:prstGeom prst="flowChartDecision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循环判断换盘信号是否</a:t>
            </a:r>
            <a:r>
              <a:rPr lang="en-US" altLang="zh-CN" sz="1200"/>
              <a:t>F</a:t>
            </a:r>
            <a:endParaRPr lang="en-US" altLang="zh-CN" sz="1200"/>
          </a:p>
        </p:txBody>
      </p:sp>
      <p:cxnSp>
        <p:nvCxnSpPr>
          <p:cNvPr id="5" name="直接箭头连接符 4"/>
          <p:cNvCxnSpPr>
            <a:stCxn id="4" idx="3"/>
          </p:cNvCxnSpPr>
          <p:nvPr/>
        </p:nvCxnSpPr>
        <p:spPr>
          <a:xfrm>
            <a:off x="1612900" y="2493010"/>
            <a:ext cx="4724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665605" y="2124710"/>
            <a:ext cx="405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</a:t>
            </a:r>
            <a:endParaRPr lang="en-US" altLang="zh-CN"/>
          </a:p>
        </p:txBody>
      </p:sp>
      <p:cxnSp>
        <p:nvCxnSpPr>
          <p:cNvPr id="11" name="直接箭头连接符 10"/>
          <p:cNvCxnSpPr>
            <a:stCxn id="4" idx="2"/>
          </p:cNvCxnSpPr>
          <p:nvPr/>
        </p:nvCxnSpPr>
        <p:spPr>
          <a:xfrm>
            <a:off x="820420" y="2965450"/>
            <a:ext cx="0" cy="10052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874395" y="3209925"/>
            <a:ext cx="515620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Y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7565" y="1771650"/>
            <a:ext cx="9786620" cy="26619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28625" y="5886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寄存器规划：</a:t>
            </a:r>
            <a:endParaRPr lang="zh-CN" altLang="en-US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7" name="图片 3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75865" y="383540"/>
            <a:ext cx="6802755" cy="60909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commondata" val="eyJoZGlkIjoiYzdjMGZhZjE5YmUwN2QwYzI3ZGFhZTMyZGFhNTYyNj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</Words>
  <Application>WPS 演示</Application>
  <PresentationFormat>宽屏</PresentationFormat>
  <Paragraphs>57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汉仪书宋二KW</vt:lpstr>
      <vt:lpstr>Calibri</vt:lpstr>
      <vt:lpstr>Helvetica Neue</vt:lpstr>
      <vt:lpstr>微软雅黑</vt:lpstr>
      <vt:lpstr>汉仪旗黑</vt:lpstr>
      <vt:lpstr>宋体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徐勇</cp:lastModifiedBy>
  <cp:revision>17</cp:revision>
  <dcterms:created xsi:type="dcterms:W3CDTF">2025-12-09T02:00:41Z</dcterms:created>
  <dcterms:modified xsi:type="dcterms:W3CDTF">2025-12-09T02:00:41Z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2052-6.10.1.8873</vt:lpwstr>
  </property>
  <property fmtid="{D5CDD505-2E9C-101B-9397-08002B2CF9AE}" pid="3" name="ICV">
    <vt:lpwstr>A776B78982C37EDE9ABE36697B257C4F_41</vt:lpwstr>
  </property>
</Properties>
</file>