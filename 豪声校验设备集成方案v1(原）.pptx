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8" r:id="rId5"/>
    <p:sldId id="257" r:id="rId6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联系 2"/>
          <p:cNvSpPr/>
          <p:nvPr/>
        </p:nvSpPr>
        <p:spPr>
          <a:xfrm>
            <a:off x="154940" y="2159000"/>
            <a:ext cx="864235" cy="764540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开始</a:t>
            </a:r>
            <a:endParaRPr lang="zh-CN" altLang="en-US" sz="140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035050" y="2573020"/>
            <a:ext cx="4210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3280410" y="2559685"/>
            <a:ext cx="3606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流程图: 可选过程 8"/>
          <p:cNvSpPr/>
          <p:nvPr/>
        </p:nvSpPr>
        <p:spPr>
          <a:xfrm>
            <a:off x="1478280" y="2036445"/>
            <a:ext cx="171005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、接收到</a:t>
            </a:r>
            <a:endParaRPr lang="zh-CN" altLang="en-US" sz="1400"/>
          </a:p>
          <a:p>
            <a:pPr algn="ctr"/>
            <a:r>
              <a:rPr lang="zh-CN" altLang="en-US" sz="1400">
                <a:sym typeface="+mn-ea"/>
              </a:rPr>
              <a:t>扫码枪条码</a:t>
            </a:r>
            <a:endParaRPr lang="zh-CN" altLang="en-US" sz="1400"/>
          </a:p>
        </p:txBody>
      </p:sp>
      <p:sp>
        <p:nvSpPr>
          <p:cNvPr id="10" name="流程图: 可选过程 9"/>
          <p:cNvSpPr/>
          <p:nvPr/>
        </p:nvSpPr>
        <p:spPr>
          <a:xfrm>
            <a:off x="3647440" y="2036445"/>
            <a:ext cx="1931670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、读</a:t>
            </a:r>
            <a:r>
              <a:rPr lang="en-US" altLang="zh-CN" sz="1400">
                <a:sym typeface="+mn-ea"/>
              </a:rPr>
              <a:t>PLC 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获得该条码对应的穴号、及对应</a:t>
            </a:r>
            <a:r>
              <a:rPr lang="en-US" altLang="zh-CN" sz="1400">
                <a:sym typeface="+mn-ea"/>
              </a:rPr>
              <a:t>CCD</a:t>
            </a:r>
            <a:r>
              <a:rPr lang="zh-CN" altLang="en-US" sz="1400">
                <a:sym typeface="+mn-ea"/>
              </a:rPr>
              <a:t>状态</a:t>
            </a:r>
            <a:endParaRPr lang="zh-CN" altLang="en-US" sz="1400">
              <a:sym typeface="+mn-ea"/>
            </a:endParaRPr>
          </a:p>
        </p:txBody>
      </p:sp>
      <p:sp>
        <p:nvSpPr>
          <p:cNvPr id="15" name="流程图: 可选过程 14"/>
          <p:cNvSpPr/>
          <p:nvPr/>
        </p:nvSpPr>
        <p:spPr>
          <a:xfrm>
            <a:off x="1443990" y="722630"/>
            <a:ext cx="1710055" cy="918845"/>
          </a:xfrm>
          <a:prstGeom prst="flowChartAlternateProcess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ym typeface="+mn-ea"/>
              </a:rPr>
              <a:t>设定</a:t>
            </a:r>
            <a:endParaRPr lang="zh-CN" altLang="en-US" sz="1400">
              <a:sym typeface="+mn-ea"/>
            </a:endParaRPr>
          </a:p>
          <a:p>
            <a:pPr algn="l"/>
            <a:r>
              <a:rPr lang="zh-CN" altLang="en-US" sz="1400">
                <a:sym typeface="+mn-ea"/>
              </a:rPr>
              <a:t>载具穴数</a:t>
            </a:r>
            <a:endParaRPr lang="zh-CN" altLang="en-US" sz="1400">
              <a:sym typeface="+mn-ea"/>
            </a:endParaRPr>
          </a:p>
          <a:p>
            <a:pPr algn="l"/>
            <a:r>
              <a:rPr lang="zh-CN" altLang="en-US" sz="1400">
                <a:sym typeface="+mn-ea"/>
              </a:rPr>
              <a:t>如：</a:t>
            </a:r>
            <a:r>
              <a:rPr lang="en-US" altLang="zh-CN" sz="1400">
                <a:sym typeface="+mn-ea"/>
              </a:rPr>
              <a:t>8</a:t>
            </a:r>
            <a:r>
              <a:rPr lang="zh-CN" altLang="en-US" sz="1400">
                <a:sym typeface="+mn-ea"/>
              </a:rPr>
              <a:t>（穴）</a:t>
            </a:r>
            <a:endParaRPr lang="zh-CN" altLang="en-US" sz="1400">
              <a:sym typeface="+mn-ea"/>
            </a:endParaRPr>
          </a:p>
        </p:txBody>
      </p:sp>
      <p:sp>
        <p:nvSpPr>
          <p:cNvPr id="19" name="流程图: 可选过程 18"/>
          <p:cNvSpPr/>
          <p:nvPr/>
        </p:nvSpPr>
        <p:spPr>
          <a:xfrm>
            <a:off x="5982335" y="2036445"/>
            <a:ext cx="1931670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3</a:t>
            </a:r>
            <a:r>
              <a:rPr lang="zh-CN" altLang="en-US" sz="1400">
                <a:sym typeface="+mn-ea"/>
              </a:rPr>
              <a:t>、回写</a:t>
            </a:r>
            <a:r>
              <a:rPr lang="en-US" altLang="zh-CN" sz="1400">
                <a:sym typeface="+mn-ea"/>
              </a:rPr>
              <a:t>PLC 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：</a:t>
            </a:r>
            <a:endParaRPr lang="en-US" altLang="zh-CN" sz="1400">
              <a:sym typeface="+mn-ea"/>
            </a:endParaRPr>
          </a:p>
          <a:p>
            <a:pPr algn="ctr"/>
            <a:r>
              <a:rPr lang="zh-CN" altLang="en-US" sz="1400">
                <a:sym typeface="+mn-ea"/>
              </a:rPr>
              <a:t>反馈地址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（加</a:t>
            </a:r>
            <a:r>
              <a:rPr lang="en-US" altLang="zh-CN" sz="1400">
                <a:sym typeface="+mn-ea"/>
              </a:rPr>
              <a:t>0.1s</a:t>
            </a:r>
            <a:r>
              <a:rPr lang="zh-CN" altLang="en-US" sz="1400">
                <a:sym typeface="+mn-ea"/>
              </a:rPr>
              <a:t>延迟）</a:t>
            </a:r>
            <a:endParaRPr lang="zh-CN" altLang="en-US" sz="1400">
              <a:sym typeface="+mn-ea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5579110" y="2527935"/>
            <a:ext cx="4051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流程图: 决策 23"/>
          <p:cNvSpPr/>
          <p:nvPr/>
        </p:nvSpPr>
        <p:spPr>
          <a:xfrm>
            <a:off x="8317230" y="2019935"/>
            <a:ext cx="1710055" cy="919480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是否等于穴数</a:t>
            </a:r>
            <a:endParaRPr lang="zh-CN" altLang="en-US" sz="140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7914005" y="2496185"/>
            <a:ext cx="3663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24" idx="2"/>
            <a:endCxn id="9" idx="2"/>
          </p:cNvCxnSpPr>
          <p:nvPr/>
        </p:nvCxnSpPr>
        <p:spPr>
          <a:xfrm rot="5400000">
            <a:off x="5745480" y="-472440"/>
            <a:ext cx="15875" cy="6838950"/>
          </a:xfrm>
          <a:prstGeom prst="bentConnector3">
            <a:avLst>
              <a:gd name="adj1" fmla="val 4694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 flipH="1">
            <a:off x="8856345" y="3049270"/>
            <a:ext cx="631825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N</a:t>
            </a:r>
            <a:endParaRPr lang="en-US" altLang="zh-CN" sz="1400"/>
          </a:p>
        </p:txBody>
      </p:sp>
      <p:sp>
        <p:nvSpPr>
          <p:cNvPr id="28" name="流程图: 可选过程 27"/>
          <p:cNvSpPr/>
          <p:nvPr/>
        </p:nvSpPr>
        <p:spPr>
          <a:xfrm>
            <a:off x="10615295" y="2019935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4</a:t>
            </a:r>
            <a:r>
              <a:rPr lang="zh-CN" altLang="en-US" sz="1400">
                <a:sym typeface="+mn-ea"/>
              </a:rPr>
              <a:t>、读取</a:t>
            </a:r>
            <a:r>
              <a:rPr lang="en-US" altLang="zh-CN" sz="1400">
                <a:sym typeface="+mn-ea"/>
              </a:rPr>
              <a:t>PLC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获得换盘信号（轮循）</a:t>
            </a:r>
            <a:endParaRPr lang="zh-CN" altLang="en-US" sz="1400">
              <a:sym typeface="+mn-ea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10061575" y="2480310"/>
            <a:ext cx="4832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 flipH="1">
            <a:off x="10078720" y="2206625"/>
            <a:ext cx="405765" cy="9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Y</a:t>
            </a:r>
            <a:endParaRPr lang="en-US" altLang="zh-CN" sz="1400"/>
          </a:p>
        </p:txBody>
      </p:sp>
      <p:sp>
        <p:nvSpPr>
          <p:cNvPr id="31" name="流程图: 可选过程 30"/>
          <p:cNvSpPr/>
          <p:nvPr/>
        </p:nvSpPr>
        <p:spPr>
          <a:xfrm>
            <a:off x="10615295" y="4917440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5</a:t>
            </a:r>
            <a:r>
              <a:rPr lang="zh-CN" altLang="en-US" sz="1400">
                <a:sym typeface="+mn-ea"/>
              </a:rPr>
              <a:t>、提交</a:t>
            </a:r>
            <a:r>
              <a:rPr lang="zh-CN" altLang="en-US" sz="1400">
                <a:sym typeface="+mn-ea"/>
              </a:rPr>
              <a:t>后台批量进行服务器条码</a:t>
            </a:r>
            <a:r>
              <a:rPr lang="zh-CN" altLang="en-US" sz="1400">
                <a:sym typeface="+mn-ea"/>
              </a:rPr>
              <a:t>校验</a:t>
            </a:r>
            <a:endParaRPr lang="zh-CN" altLang="en-US" sz="1400">
              <a:sym typeface="+mn-ea"/>
            </a:endParaRPr>
          </a:p>
        </p:txBody>
      </p:sp>
      <p:cxnSp>
        <p:nvCxnSpPr>
          <p:cNvPr id="32" name="直接箭头连接符 31"/>
          <p:cNvCxnSpPr>
            <a:stCxn id="28" idx="2"/>
            <a:endCxn id="31" idx="0"/>
          </p:cNvCxnSpPr>
          <p:nvPr/>
        </p:nvCxnSpPr>
        <p:spPr>
          <a:xfrm>
            <a:off x="11347450" y="2938780"/>
            <a:ext cx="0" cy="19786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流程图: 可选过程 32"/>
          <p:cNvSpPr/>
          <p:nvPr/>
        </p:nvSpPr>
        <p:spPr>
          <a:xfrm>
            <a:off x="8220710" y="4917440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6</a:t>
            </a:r>
            <a:r>
              <a:rPr lang="zh-CN" altLang="en-US" sz="1400">
                <a:sym typeface="+mn-ea"/>
              </a:rPr>
              <a:t>、校验结果写入</a:t>
            </a:r>
            <a:r>
              <a:rPr lang="en-US" altLang="zh-CN" sz="1400">
                <a:sym typeface="+mn-ea"/>
              </a:rPr>
              <a:t>PLC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14</a:t>
            </a:r>
            <a:r>
              <a:rPr lang="zh-CN" altLang="en-US" sz="1400">
                <a:sym typeface="+mn-ea"/>
              </a:rPr>
              <a:t>位</a:t>
            </a:r>
            <a:r>
              <a:rPr lang="zh-CN" altLang="en-US" sz="1400">
                <a:sym typeface="+mn-ea"/>
              </a:rPr>
              <a:t>长度</a:t>
            </a:r>
            <a:endParaRPr lang="zh-CN" altLang="en-US" sz="1400">
              <a:sym typeface="+mn-ea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9798050" y="5377180"/>
            <a:ext cx="736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流程图: 可选过程 34"/>
          <p:cNvSpPr/>
          <p:nvPr/>
        </p:nvSpPr>
        <p:spPr>
          <a:xfrm>
            <a:off x="5579110" y="4917440"/>
            <a:ext cx="1710690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7</a:t>
            </a:r>
            <a:r>
              <a:rPr lang="zh-CN" altLang="en-US" sz="1400">
                <a:sym typeface="+mn-ea"/>
              </a:rPr>
              <a:t>、完成写入后再写入</a:t>
            </a:r>
            <a:r>
              <a:rPr lang="en-US" altLang="zh-CN" sz="1400">
                <a:sym typeface="+mn-ea"/>
              </a:rPr>
              <a:t>PLC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：最高</a:t>
            </a:r>
            <a:r>
              <a:rPr lang="zh-CN" altLang="en-US" sz="1400">
                <a:sym typeface="+mn-ea"/>
              </a:rPr>
              <a:t>位</a:t>
            </a:r>
            <a:endParaRPr lang="zh-CN" altLang="en-US" sz="1400">
              <a:sym typeface="+mn-ea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>
            <a:off x="7402830" y="5377180"/>
            <a:ext cx="718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流程图: 可选过程 37"/>
          <p:cNvSpPr/>
          <p:nvPr/>
        </p:nvSpPr>
        <p:spPr>
          <a:xfrm>
            <a:off x="3869055" y="722630"/>
            <a:ext cx="2226945" cy="918845"/>
          </a:xfrm>
          <a:prstGeom prst="flowChartAlternateProcess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ym typeface="+mn-ea"/>
              </a:rPr>
              <a:t>设置</a:t>
            </a:r>
            <a:endParaRPr lang="zh-CN" altLang="en-US" sz="1400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</a:t>
            </a:r>
            <a:r>
              <a:rPr lang="en-US" altLang="zh-CN" sz="1400">
                <a:sym typeface="+mn-ea"/>
              </a:rPr>
              <a:t>PLC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1&amp;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2</a:t>
            </a:r>
            <a:endParaRPr lang="en-US" altLang="zh-CN" sz="1400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、账号（统一</a:t>
            </a:r>
            <a:r>
              <a:rPr lang="zh-CN" altLang="en-US" sz="1400">
                <a:sym typeface="+mn-ea"/>
              </a:rPr>
              <a:t>体系）</a:t>
            </a:r>
            <a:endParaRPr lang="zh-CN" altLang="en-US" sz="1400">
              <a:sym typeface="+mn-ea"/>
            </a:endParaRPr>
          </a:p>
        </p:txBody>
      </p:sp>
      <p:sp>
        <p:nvSpPr>
          <p:cNvPr id="39" name="流程图: 联系 38"/>
          <p:cNvSpPr/>
          <p:nvPr/>
        </p:nvSpPr>
        <p:spPr>
          <a:xfrm>
            <a:off x="3775710" y="4980940"/>
            <a:ext cx="864235" cy="764540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结束</a:t>
            </a:r>
            <a:endParaRPr lang="zh-CN" altLang="en-US" sz="14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4752975" y="5377180"/>
            <a:ext cx="7131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641090" y="3049270"/>
            <a:ext cx="1931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、低</a:t>
            </a:r>
            <a:r>
              <a:rPr lang="en-US" altLang="zh-CN" sz="1200">
                <a:solidFill>
                  <a:srgbClr val="FF0000"/>
                </a:solidFill>
              </a:rPr>
              <a:t>8</a:t>
            </a:r>
            <a:r>
              <a:rPr lang="zh-CN" altLang="en-US" sz="1200">
                <a:solidFill>
                  <a:srgbClr val="FF0000"/>
                </a:solidFill>
              </a:rPr>
              <a:t>位代表穴号；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  <a:r>
              <a:rPr lang="zh-CN" altLang="en-US" sz="1200">
                <a:solidFill>
                  <a:srgbClr val="FF0000"/>
                </a:solidFill>
              </a:rPr>
              <a:t>、中</a:t>
            </a:r>
            <a:r>
              <a:rPr lang="en-US" altLang="zh-CN" sz="1200">
                <a:solidFill>
                  <a:srgbClr val="FF0000"/>
                </a:solidFill>
              </a:rPr>
              <a:t>4</a:t>
            </a:r>
            <a:r>
              <a:rPr lang="zh-CN" altLang="en-US" sz="1200">
                <a:solidFill>
                  <a:srgbClr val="FF0000"/>
                </a:solidFill>
              </a:rPr>
              <a:t>位代表</a:t>
            </a:r>
            <a:r>
              <a:rPr lang="en-US" altLang="zh-CN" sz="1200">
                <a:solidFill>
                  <a:srgbClr val="FF0000"/>
                </a:solidFill>
              </a:rPr>
              <a:t>CCD</a:t>
            </a:r>
            <a:r>
              <a:rPr lang="zh-CN" altLang="en-US" sz="1200">
                <a:solidFill>
                  <a:srgbClr val="FF0000"/>
                </a:solidFill>
              </a:rPr>
              <a:t>状态；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984240" y="3049270"/>
            <a:ext cx="1931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次高位（第</a:t>
            </a:r>
            <a:r>
              <a:rPr lang="en-US" altLang="zh-CN" sz="1200">
                <a:solidFill>
                  <a:srgbClr val="FF0000"/>
                </a:solidFill>
              </a:rPr>
              <a:t>15</a:t>
            </a:r>
            <a:r>
              <a:rPr lang="zh-CN" altLang="en-US" sz="1200">
                <a:solidFill>
                  <a:srgbClr val="FF0000"/>
                </a:solidFill>
              </a:rPr>
              <a:t>位）写入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；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260330" y="1303020"/>
            <a:ext cx="1931670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FF0000"/>
                </a:solidFill>
              </a:rPr>
              <a:t>高</a:t>
            </a:r>
            <a:r>
              <a:rPr lang="en-US" altLang="zh-CN" sz="1200">
                <a:solidFill>
                  <a:srgbClr val="FF0000"/>
                </a:solidFill>
              </a:rPr>
              <a:t>4</a:t>
            </a:r>
            <a:r>
              <a:rPr lang="zh-CN" altLang="en-US" sz="1200">
                <a:solidFill>
                  <a:srgbClr val="FF0000"/>
                </a:solidFill>
              </a:rPr>
              <a:t>位代表换盘信号：</a:t>
            </a:r>
            <a:r>
              <a:rPr lang="en-US" altLang="zh-CN" sz="1200">
                <a:solidFill>
                  <a:srgbClr val="FF0000"/>
                </a:solidFill>
              </a:rPr>
              <a:t>f</a:t>
            </a:r>
            <a:r>
              <a:rPr lang="zh-CN" altLang="en-US" sz="1200">
                <a:solidFill>
                  <a:srgbClr val="FF0000"/>
                </a:solidFill>
              </a:rPr>
              <a:t>（</a:t>
            </a:r>
            <a:r>
              <a:rPr lang="en-US" altLang="zh-CN" sz="1200">
                <a:solidFill>
                  <a:srgbClr val="FF0000"/>
                </a:solidFill>
              </a:rPr>
              <a:t>1111</a:t>
            </a:r>
            <a:r>
              <a:rPr lang="zh-CN" altLang="en-US" sz="1200">
                <a:solidFill>
                  <a:srgbClr val="FF0000"/>
                </a:solidFill>
              </a:rPr>
              <a:t>）代表换盘；</a:t>
            </a:r>
            <a:r>
              <a:rPr lang="en-US" altLang="zh-CN" sz="1200">
                <a:solidFill>
                  <a:srgbClr val="FF0000"/>
                </a:solidFill>
              </a:rPr>
              <a:t>0000</a:t>
            </a:r>
            <a:r>
              <a:rPr lang="zh-CN" altLang="en-US" sz="1200">
                <a:solidFill>
                  <a:srgbClr val="FF0000"/>
                </a:solidFill>
              </a:rPr>
              <a:t>代表不</a:t>
            </a:r>
            <a:r>
              <a:rPr lang="zh-CN" altLang="en-US" sz="1200">
                <a:solidFill>
                  <a:srgbClr val="FF0000"/>
                </a:solidFill>
              </a:rPr>
              <a:t>换盘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661910" y="6024880"/>
            <a:ext cx="2822575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FF0000"/>
                </a:solidFill>
              </a:rPr>
              <a:t>低</a:t>
            </a:r>
            <a:r>
              <a:rPr lang="en-US" altLang="zh-CN" sz="1200">
                <a:solidFill>
                  <a:srgbClr val="FF0000"/>
                </a:solidFill>
              </a:rPr>
              <a:t>14</a:t>
            </a:r>
            <a:r>
              <a:rPr lang="zh-CN" altLang="en-US" sz="1200">
                <a:solidFill>
                  <a:srgbClr val="FF0000"/>
                </a:solidFill>
              </a:rPr>
              <a:t>位写入，</a:t>
            </a:r>
            <a:r>
              <a:rPr lang="en-US" altLang="zh-CN" sz="1200">
                <a:solidFill>
                  <a:srgbClr val="FF0000"/>
                </a:solidFill>
              </a:rPr>
              <a:t>0</a:t>
            </a:r>
            <a:r>
              <a:rPr lang="zh-CN" altLang="en-US" sz="1200">
                <a:solidFill>
                  <a:srgbClr val="FF0000"/>
                </a:solidFill>
              </a:rPr>
              <a:t>位代表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穴，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位代表</a:t>
            </a:r>
            <a:r>
              <a:rPr lang="en-US" altLang="zh-CN" sz="1200">
                <a:solidFill>
                  <a:srgbClr val="FF0000"/>
                </a:solidFill>
              </a:rPr>
              <a:t>2</a:t>
            </a:r>
            <a:r>
              <a:rPr lang="zh-CN" altLang="en-US" sz="1200">
                <a:solidFill>
                  <a:srgbClr val="FF0000"/>
                </a:solidFill>
              </a:rPr>
              <a:t>穴。。。</a:t>
            </a:r>
            <a:r>
              <a:rPr lang="en-US" altLang="zh-CN" sz="1200">
                <a:solidFill>
                  <a:srgbClr val="FF0000"/>
                </a:solidFill>
              </a:rPr>
              <a:t>7</a:t>
            </a:r>
            <a:r>
              <a:rPr lang="zh-CN" altLang="en-US" sz="1200">
                <a:solidFill>
                  <a:srgbClr val="FF0000"/>
                </a:solidFill>
              </a:rPr>
              <a:t>位代表</a:t>
            </a:r>
            <a:r>
              <a:rPr lang="en-US" altLang="zh-CN" sz="1200">
                <a:solidFill>
                  <a:srgbClr val="FF0000"/>
                </a:solidFill>
              </a:rPr>
              <a:t>8</a:t>
            </a:r>
            <a:r>
              <a:rPr lang="zh-CN" altLang="en-US" sz="1200">
                <a:solidFill>
                  <a:srgbClr val="FF0000"/>
                </a:solidFill>
              </a:rPr>
              <a:t>穴，对应的值写入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或</a:t>
            </a:r>
            <a:r>
              <a:rPr lang="en-US" altLang="zh-CN" sz="1200">
                <a:solidFill>
                  <a:srgbClr val="FF0000"/>
                </a:solidFill>
              </a:rPr>
              <a:t>0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代表</a:t>
            </a:r>
            <a:r>
              <a:rPr lang="en-US" altLang="zh-CN" sz="1200">
                <a:solidFill>
                  <a:srgbClr val="FF0000"/>
                </a:solidFill>
              </a:rPr>
              <a:t>ok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0</a:t>
            </a:r>
            <a:r>
              <a:rPr lang="zh-CN" altLang="en-US" sz="1200">
                <a:solidFill>
                  <a:srgbClr val="FF0000"/>
                </a:solidFill>
              </a:rPr>
              <a:t>代表</a:t>
            </a:r>
            <a:r>
              <a:rPr lang="en-US" altLang="zh-CN" sz="1200">
                <a:solidFill>
                  <a:srgbClr val="FF0000"/>
                </a:solidFill>
              </a:rPr>
              <a:t>ng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572760" y="6024880"/>
            <a:ext cx="1931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最高位（第</a:t>
            </a:r>
            <a:r>
              <a:rPr lang="en-US" altLang="zh-CN" sz="1200">
                <a:solidFill>
                  <a:srgbClr val="FF0000"/>
                </a:solidFill>
              </a:rPr>
              <a:t>16</a:t>
            </a:r>
            <a:r>
              <a:rPr lang="zh-CN" altLang="en-US" sz="1200">
                <a:solidFill>
                  <a:srgbClr val="FF0000"/>
                </a:solidFill>
              </a:rPr>
              <a:t>位）写入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r>
              <a:rPr lang="zh-CN" altLang="en-US" sz="1200">
                <a:solidFill>
                  <a:srgbClr val="FF0000"/>
                </a:solidFill>
              </a:rPr>
              <a:t>表示全部写入</a:t>
            </a:r>
            <a:r>
              <a:rPr lang="zh-CN" altLang="en-US" sz="1200">
                <a:solidFill>
                  <a:srgbClr val="FF0000"/>
                </a:solidFill>
              </a:rPr>
              <a:t>完成；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940" y="149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集成流程：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7565" y="1771650"/>
            <a:ext cx="9786620" cy="2661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8625" y="588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寄存器规划：</a:t>
            </a:r>
            <a:endParaRPr lang="zh-C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5865" y="383540"/>
            <a:ext cx="6802755" cy="60909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YzdjMGZhZjE5YmUwN2QwYzI3ZGFhZTMyZGFhNTYyN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WPS 演示</Application>
  <PresentationFormat>宽屏</PresentationFormat>
  <Paragraphs>52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徐勇</cp:lastModifiedBy>
  <cp:revision>16</cp:revision>
  <dcterms:created xsi:type="dcterms:W3CDTF">2025-12-08T14:17:55Z</dcterms:created>
  <dcterms:modified xsi:type="dcterms:W3CDTF">2025-12-08T14:17:55Z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A776B78982C37EDE9ABE36697B257C4F_41</vt:lpwstr>
  </property>
</Properties>
</file>